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-1051560"/>
            <a:ext cx="4754880" cy="4754880"/>
          </a:xfrm>
          <a:prstGeom prst="arc">
            <a:avLst/>
          </a:prstGeom>
          <a:noFill/>
          <a:ln w="25400">
            <a:solidFill>
              <a:srgbClr val="2563EB">
                <a:alpha val="8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03920" y="2743200"/>
            <a:ext cx="3383280" cy="3383280"/>
          </a:xfrm>
          <a:prstGeom prst="arc">
            <a:avLst/>
          </a:prstGeom>
          <a:noFill/>
          <a:ln w="25400">
            <a:solidFill>
              <a:srgbClr val="16A34A">
                <a:alpha val="7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6656" y="1691640"/>
            <a:ext cx="6583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Codara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713232" y="2578608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9E5F4"/>
                </a:solidFill>
              </a:rPr>
              <a:t>Architecture intelligence roadmap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312724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A8BA"/>
                </a:solidFill>
              </a:rPr>
              <a:t>Backend + AI core + system observability plan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5349240"/>
            <a:ext cx="1060704" cy="237744"/>
          </a:xfrm>
          <a:prstGeom prst="roundRect">
            <a:avLst>
              <a:gd name="adj" fmla="val 23077"/>
            </a:avLst>
          </a:prstGeom>
          <a:solidFill>
            <a:srgbClr val="16A34A">
              <a:alpha val="12000"/>
            </a:srgbClr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5399532"/>
            <a:ext cx="914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16A34A"/>
                </a:solidFill>
              </a:rPr>
              <a:t>MVP</a:t>
            </a:r>
            <a:endParaRPr lang="en-US" sz="680" dirty="0"/>
          </a:p>
        </p:txBody>
      </p:sp>
      <p:sp>
        <p:nvSpPr>
          <p:cNvPr id="10" name="Shape 8"/>
          <p:cNvSpPr/>
          <p:nvPr/>
        </p:nvSpPr>
        <p:spPr>
          <a:xfrm>
            <a:off x="1993392" y="5349240"/>
            <a:ext cx="1060704" cy="237744"/>
          </a:xfrm>
          <a:prstGeom prst="roundRect">
            <a:avLst>
              <a:gd name="adj" fmla="val 23077"/>
            </a:avLst>
          </a:prstGeom>
          <a:solidFill>
            <a:srgbClr val="2563EB">
              <a:alpha val="12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66544" y="5399532"/>
            <a:ext cx="914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563EB"/>
                </a:solidFill>
              </a:rPr>
              <a:t>Advanced AI</a:t>
            </a:r>
            <a:endParaRPr lang="en-US" sz="680" dirty="0"/>
          </a:p>
        </p:txBody>
      </p:sp>
      <p:sp>
        <p:nvSpPr>
          <p:cNvPr id="12" name="Shape 10"/>
          <p:cNvSpPr/>
          <p:nvPr/>
        </p:nvSpPr>
        <p:spPr>
          <a:xfrm>
            <a:off x="3255264" y="5349240"/>
            <a:ext cx="1060704" cy="237744"/>
          </a:xfrm>
          <a:prstGeom prst="roundRect">
            <a:avLst>
              <a:gd name="adj" fmla="val 23077"/>
            </a:avLst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28416" y="5399532"/>
            <a:ext cx="914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7C3AED"/>
                </a:solidFill>
              </a:rPr>
              <a:t>Research AI</a:t>
            </a:r>
            <a:endParaRPr lang="en-US" sz="680" dirty="0"/>
          </a:p>
        </p:txBody>
      </p:sp>
      <p:sp>
        <p:nvSpPr>
          <p:cNvPr id="14" name="Shape 12"/>
          <p:cNvSpPr/>
          <p:nvPr/>
        </p:nvSpPr>
        <p:spPr>
          <a:xfrm>
            <a:off x="4517136" y="5349240"/>
            <a:ext cx="1060704" cy="237744"/>
          </a:xfrm>
          <a:prstGeom prst="roundRect">
            <a:avLst>
              <a:gd name="adj" fmla="val 23077"/>
            </a:avLst>
          </a:prstGeom>
          <a:solidFill>
            <a:srgbClr val="D97706">
              <a:alpha val="12000"/>
            </a:srgbClr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90288" y="5399532"/>
            <a:ext cx="914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7706"/>
                </a:solidFill>
              </a:rPr>
              <a:t>Global platform</a:t>
            </a:r>
            <a:endParaRPr lang="en-US" sz="680" dirty="0"/>
          </a:p>
        </p:txBody>
      </p:sp>
      <p:sp>
        <p:nvSpPr>
          <p:cNvPr id="16" name="Text 14"/>
          <p:cNvSpPr/>
          <p:nvPr/>
        </p:nvSpPr>
        <p:spPr>
          <a:xfrm>
            <a:off x="731520" y="5989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8EA3"/>
                </a:solidFill>
              </a:rPr>
              <a:t>Prepared for Codara project planning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Problem Codara Solves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85216" y="758952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</a:rPr>
              <a:t>Developers lose time understanding codebases before they can safely improve them.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85216" y="1143000"/>
            <a:ext cx="914400" cy="0"/>
          </a:xfrm>
          <a:prstGeom prst="line">
            <a:avLst/>
          </a:prstGeom>
          <a:noFill/>
          <a:ln w="2794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508760"/>
            <a:ext cx="5669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11827"/>
                </a:solidFill>
              </a:rPr>
              <a:t>Codara turns a repository into an architecture map, a searchable knowledge base, and a practical assistant for design decisions.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49808" y="2935224"/>
            <a:ext cx="64008" cy="6400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288036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11827"/>
                </a:solidFill>
              </a:rPr>
              <a:t>Analyze architecture, dependencies, modules, classes, and functions.</a:t>
            </a:r>
            <a:endParaRPr lang="en-US" sz="1140" dirty="0"/>
          </a:p>
        </p:txBody>
      </p:sp>
      <p:sp>
        <p:nvSpPr>
          <p:cNvPr id="8" name="Shape 6"/>
          <p:cNvSpPr/>
          <p:nvPr/>
        </p:nvSpPr>
        <p:spPr>
          <a:xfrm>
            <a:off x="749808" y="3355848"/>
            <a:ext cx="64008" cy="6400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3300984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11827"/>
                </a:solidFill>
              </a:rPr>
              <a:t>Detect issues such as circular dependencies, dead code, and smells.</a:t>
            </a:r>
            <a:endParaRPr lang="en-US" sz="1140" dirty="0"/>
          </a:p>
        </p:txBody>
      </p:sp>
      <p:sp>
        <p:nvSpPr>
          <p:cNvPr id="10" name="Shape 8"/>
          <p:cNvSpPr/>
          <p:nvPr/>
        </p:nvSpPr>
        <p:spPr>
          <a:xfrm>
            <a:off x="749808" y="3776472"/>
            <a:ext cx="64008" cy="6400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372160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11827"/>
                </a:solidFill>
              </a:rPr>
              <a:t>Generate diagrams and summaries that reduce onboarding time.</a:t>
            </a:r>
            <a:endParaRPr lang="en-US" sz="1140" dirty="0"/>
          </a:p>
        </p:txBody>
      </p:sp>
      <p:sp>
        <p:nvSpPr>
          <p:cNvPr id="12" name="Shape 10"/>
          <p:cNvSpPr/>
          <p:nvPr/>
        </p:nvSpPr>
        <p:spPr>
          <a:xfrm>
            <a:off x="749808" y="4197096"/>
            <a:ext cx="64008" cy="6400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6112" y="414223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11827"/>
                </a:solidFill>
              </a:rPr>
              <a:t>Answer natural-language questions about the repository context.</a:t>
            </a:r>
            <a:endParaRPr lang="en-US" sz="1140" dirty="0"/>
          </a:p>
        </p:txBody>
      </p:sp>
      <p:sp>
        <p:nvSpPr>
          <p:cNvPr id="14" name="Shape 12"/>
          <p:cNvSpPr/>
          <p:nvPr/>
        </p:nvSpPr>
        <p:spPr>
          <a:xfrm>
            <a:off x="6812280" y="1508760"/>
            <a:ext cx="416052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E8ECF1"/>
            </a:solidFill>
            <a:prstDash val="solid"/>
          </a:ln>
          <a:effectLst>
            <a:outerShdw sx="100000" sy="100000" kx="0" ky="0" algn="bl" rotWithShape="0" blurRad="12700" dist="50800" dir="2700000">
              <a:srgbClr val="D7DEE8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812280" y="1508760"/>
            <a:ext cx="54864" cy="35661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31736" y="1673352"/>
            <a:ext cx="3776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</a:rPr>
              <a:t>MVP promise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031736" y="2011680"/>
            <a:ext cx="3776472" cy="2907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5B6472"/>
                </a:solidFill>
              </a:rPr>
              <a:t>A useful architecture assistant that developers can start using now: repo analysis, contextual suggestions, diagrams, onboarding summaries, and basic refactoring alerts.</a:t>
            </a:r>
            <a:endParaRPr lang="en-US" sz="860" dirty="0"/>
          </a:p>
        </p:txBody>
      </p:sp>
      <p:sp>
        <p:nvSpPr>
          <p:cNvPr id="18" name="Text 16"/>
          <p:cNvSpPr/>
          <p:nvPr/>
        </p:nvSpPr>
        <p:spPr>
          <a:xfrm>
            <a:off x="9509760" y="6473952"/>
            <a:ext cx="2057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A93A3"/>
                </a:solidFill>
              </a:rPr>
              <a:t>Codara architecture roadmap | 2</a:t>
            </a:r>
            <a:endParaRPr lang="en-US" sz="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System Overview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85216" y="758952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</a:rPr>
              <a:t>A single backend coordinates upload, analysis, retrieval, diagrams, and observability.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85216" y="1143000"/>
            <a:ext cx="914400" cy="0"/>
          </a:xfrm>
          <a:prstGeom prst="line">
            <a:avLst/>
          </a:prstGeom>
          <a:noFill/>
          <a:ln w="2794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057400"/>
            <a:ext cx="1600200" cy="603504"/>
          </a:xfrm>
          <a:prstGeom prst="roundRect">
            <a:avLst>
              <a:gd name="adj" fmla="val 12121"/>
            </a:avLst>
          </a:prstGeom>
          <a:solidFill>
            <a:srgbClr val="2563EB">
              <a:alpha val="10000"/>
            </a:srgbClr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2267712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2563EB"/>
                </a:solidFill>
              </a:rPr>
              <a:t>Frontend</a:t>
            </a:r>
            <a:endParaRPr lang="en-US" sz="860" dirty="0"/>
          </a:p>
        </p:txBody>
      </p:sp>
      <p:sp>
        <p:nvSpPr>
          <p:cNvPr id="7" name="Shape 5"/>
          <p:cNvSpPr/>
          <p:nvPr/>
        </p:nvSpPr>
        <p:spPr>
          <a:xfrm>
            <a:off x="2971800" y="2057400"/>
            <a:ext cx="1600200" cy="603504"/>
          </a:xfrm>
          <a:prstGeom prst="roundRect">
            <a:avLst>
              <a:gd name="adj" fmla="val 12121"/>
            </a:avLst>
          </a:prstGeom>
          <a:solidFill>
            <a:srgbClr val="16A34A">
              <a:alpha val="10000"/>
            </a:srgbClr>
          </a:solidFill>
          <a:ln w="15240">
            <a:solidFill>
              <a:srgbClr val="16A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44952" y="2267712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16A34A"/>
                </a:solidFill>
              </a:rPr>
              <a:t>FastAPI backend</a:t>
            </a:r>
            <a:endParaRPr lang="en-US" sz="860" dirty="0"/>
          </a:p>
        </p:txBody>
      </p:sp>
      <p:sp>
        <p:nvSpPr>
          <p:cNvPr id="9" name="Shape 7"/>
          <p:cNvSpPr/>
          <p:nvPr/>
        </p:nvSpPr>
        <p:spPr>
          <a:xfrm>
            <a:off x="5303520" y="1325880"/>
            <a:ext cx="1600200" cy="603504"/>
          </a:xfrm>
          <a:prstGeom prst="roundRect">
            <a:avLst>
              <a:gd name="adj" fmla="val 12121"/>
            </a:avLst>
          </a:prstGeom>
          <a:solidFill>
            <a:srgbClr val="D97706">
              <a:alpha val="10000"/>
            </a:srgbClr>
          </a:solidFill>
          <a:ln w="1524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76672" y="1536192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D97706"/>
                </a:solidFill>
              </a:rPr>
              <a:t>Async workers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5303520" y="2834640"/>
            <a:ext cx="1600200" cy="603504"/>
          </a:xfrm>
          <a:prstGeom prst="roundRect">
            <a:avLst>
              <a:gd name="adj" fmla="val 12121"/>
            </a:avLst>
          </a:prstGeom>
          <a:solidFill>
            <a:srgbClr val="7C3AED">
              <a:alpha val="10000"/>
            </a:srgbClr>
          </a:solidFill>
          <a:ln w="1524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76672" y="3044952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7C3AED"/>
                </a:solidFill>
              </a:rPr>
              <a:t>Analyzer + AI</a:t>
            </a:r>
            <a:endParaRPr lang="en-US" sz="860" dirty="0"/>
          </a:p>
        </p:txBody>
      </p:sp>
      <p:sp>
        <p:nvSpPr>
          <p:cNvPr id="13" name="Shape 11"/>
          <p:cNvSpPr/>
          <p:nvPr/>
        </p:nvSpPr>
        <p:spPr>
          <a:xfrm>
            <a:off x="7726680" y="1325880"/>
            <a:ext cx="1600200" cy="603504"/>
          </a:xfrm>
          <a:prstGeom prst="roundRect">
            <a:avLst>
              <a:gd name="adj" fmla="val 12121"/>
            </a:avLst>
          </a:prstGeom>
          <a:solidFill>
            <a:srgbClr val="0891B2">
              <a:alpha val="10000"/>
            </a:srgbClr>
          </a:solidFill>
          <a:ln w="1524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99832" y="1536192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0891B2"/>
                </a:solidFill>
              </a:rPr>
              <a:t>Postgres</a:t>
            </a:r>
            <a:endParaRPr lang="en-US" sz="860" dirty="0"/>
          </a:p>
        </p:txBody>
      </p:sp>
      <p:sp>
        <p:nvSpPr>
          <p:cNvPr id="15" name="Shape 13"/>
          <p:cNvSpPr/>
          <p:nvPr/>
        </p:nvSpPr>
        <p:spPr>
          <a:xfrm>
            <a:off x="7726680" y="2834640"/>
            <a:ext cx="1600200" cy="603504"/>
          </a:xfrm>
          <a:prstGeom prst="roundRect">
            <a:avLst>
              <a:gd name="adj" fmla="val 12121"/>
            </a:avLst>
          </a:prstGeom>
          <a:solidFill>
            <a:srgbClr val="0891B2">
              <a:alpha val="10000"/>
            </a:srgbClr>
          </a:solidFill>
          <a:ln w="1524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99832" y="3044952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0891B2"/>
                </a:solidFill>
              </a:rPr>
              <a:t>Vector DB</a:t>
            </a:r>
            <a:endParaRPr lang="en-US" sz="860" dirty="0"/>
          </a:p>
        </p:txBody>
      </p:sp>
      <p:sp>
        <p:nvSpPr>
          <p:cNvPr id="17" name="Shape 15"/>
          <p:cNvSpPr/>
          <p:nvPr/>
        </p:nvSpPr>
        <p:spPr>
          <a:xfrm>
            <a:off x="9646920" y="2057400"/>
            <a:ext cx="1600200" cy="603504"/>
          </a:xfrm>
          <a:prstGeom prst="roundRect">
            <a:avLst>
              <a:gd name="adj" fmla="val 12121"/>
            </a:avLst>
          </a:prstGeom>
          <a:solidFill>
            <a:srgbClr val="DC2626">
              <a:alpha val="10000"/>
            </a:srgbClr>
          </a:solidFill>
          <a:ln w="1524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20072" y="2267712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DC2626"/>
                </a:solidFill>
              </a:rPr>
              <a:t>Golang observability</a:t>
            </a:r>
            <a:endParaRPr lang="en-US" sz="860" dirty="0"/>
          </a:p>
        </p:txBody>
      </p:sp>
      <p:sp>
        <p:nvSpPr>
          <p:cNvPr id="19" name="Shape 17"/>
          <p:cNvSpPr/>
          <p:nvPr/>
        </p:nvSpPr>
        <p:spPr>
          <a:xfrm>
            <a:off x="2423160" y="2359152"/>
            <a:ext cx="502920" cy="0"/>
          </a:xfrm>
          <a:prstGeom prst="line">
            <a:avLst/>
          </a:prstGeom>
          <a:noFill/>
          <a:ln w="17780">
            <a:solidFill>
              <a:srgbClr val="8A93A3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572000" y="2359152"/>
            <a:ext cx="594360" cy="-658368"/>
          </a:xfrm>
          <a:prstGeom prst="line">
            <a:avLst/>
          </a:prstGeom>
          <a:noFill/>
          <a:ln w="17780">
            <a:solidFill>
              <a:srgbClr val="8A93A3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572000" y="2359152"/>
            <a:ext cx="594360" cy="713232"/>
          </a:xfrm>
          <a:prstGeom prst="line">
            <a:avLst/>
          </a:prstGeom>
          <a:noFill/>
          <a:ln w="17780">
            <a:solidFill>
              <a:srgbClr val="8A93A3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903720" y="1627632"/>
            <a:ext cx="658368" cy="0"/>
          </a:xfrm>
          <a:prstGeom prst="line">
            <a:avLst/>
          </a:prstGeom>
          <a:noFill/>
          <a:ln w="17780">
            <a:solidFill>
              <a:srgbClr val="8A93A3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903720" y="3136392"/>
            <a:ext cx="658368" cy="0"/>
          </a:xfrm>
          <a:prstGeom prst="line">
            <a:avLst/>
          </a:prstGeom>
          <a:noFill/>
          <a:ln w="17780">
            <a:solidFill>
              <a:srgbClr val="8A93A3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354312" y="2359152"/>
            <a:ext cx="219456" cy="0"/>
          </a:xfrm>
          <a:prstGeom prst="line">
            <a:avLst/>
          </a:prstGeom>
          <a:noFill/>
          <a:ln w="17780">
            <a:solidFill>
              <a:srgbClr val="8A93A3"/>
            </a:solidFill>
            <a:prstDash val="solid"/>
            <a:headEnd type="none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914400" y="5138928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Golang services collect metrics, logs, queue signals, worker health, and alert state across the supporting infrastructure.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509760" y="6473952"/>
            <a:ext cx="2057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A93A3"/>
                </a:solidFill>
              </a:rPr>
              <a:t>Codara architecture roadmap | 3</a:t>
            </a:r>
            <a:endParaRPr lang="en-US" sz="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Backend Layers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85216" y="758952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</a:rPr>
              <a:t>Keep each responsibility explicit so the system can scale without becoming hard to reason about.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85216" y="1143000"/>
            <a:ext cx="914400" cy="0"/>
          </a:xfrm>
          <a:prstGeom prst="line">
            <a:avLst/>
          </a:prstGeom>
          <a:noFill/>
          <a:ln w="2794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417320"/>
            <a:ext cx="470916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E8ECF1"/>
            </a:solidFill>
            <a:prstDash val="solid"/>
          </a:ln>
          <a:effectLst>
            <a:outerShdw sx="100000" sy="100000" kx="0" ky="0" algn="bl" rotWithShape="0" blurRad="12700" dist="50800" dir="2700000">
              <a:srgbClr val="D7DEE8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417320"/>
            <a:ext cx="54864" cy="7863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96696" y="1581912"/>
            <a:ext cx="4325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</a:rPr>
              <a:t>API Layer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96696" y="1920240"/>
            <a:ext cx="43251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5B6472"/>
                </a:solidFill>
              </a:rPr>
              <a:t>Requests, auth boundary, validation, health endpoints</a:t>
            </a:r>
            <a:endParaRPr lang="en-US" sz="860" dirty="0"/>
          </a:p>
        </p:txBody>
      </p:sp>
      <p:sp>
        <p:nvSpPr>
          <p:cNvPr id="9" name="Shape 7"/>
          <p:cNvSpPr/>
          <p:nvPr/>
        </p:nvSpPr>
        <p:spPr>
          <a:xfrm>
            <a:off x="6172200" y="1417320"/>
            <a:ext cx="470916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E8ECF1"/>
            </a:solidFill>
            <a:prstDash val="solid"/>
          </a:ln>
          <a:effectLst>
            <a:outerShdw sx="100000" sy="100000" kx="0" ky="0" algn="bl" rotWithShape="0" blurRad="12700" dist="50800" dir="2700000">
              <a:srgbClr val="D7DEE8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72200" y="1417320"/>
            <a:ext cx="54864" cy="78638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91656" y="1581912"/>
            <a:ext cx="4325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</a:rPr>
              <a:t>Service Layer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391656" y="1920240"/>
            <a:ext cx="43251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5B6472"/>
                </a:solidFill>
              </a:rPr>
              <a:t>Business flow, orchestration, domain rules</a:t>
            </a:r>
            <a:endParaRPr lang="en-US" sz="860" dirty="0"/>
          </a:p>
        </p:txBody>
      </p:sp>
      <p:sp>
        <p:nvSpPr>
          <p:cNvPr id="13" name="Shape 11"/>
          <p:cNvSpPr/>
          <p:nvPr/>
        </p:nvSpPr>
        <p:spPr>
          <a:xfrm>
            <a:off x="777240" y="2532888"/>
            <a:ext cx="470916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E8ECF1"/>
            </a:solidFill>
            <a:prstDash val="solid"/>
          </a:ln>
          <a:effectLst>
            <a:outerShdw sx="100000" sy="100000" kx="0" ky="0" algn="bl" rotWithShape="0" blurRad="12700" dist="50800" dir="2700000">
              <a:srgbClr val="D7DEE8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77240" y="2532888"/>
            <a:ext cx="54864" cy="7863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96696" y="2697480"/>
            <a:ext cx="4325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</a:rPr>
              <a:t>Analyzer Layer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96696" y="3035808"/>
            <a:ext cx="43251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5B6472"/>
                </a:solidFill>
              </a:rPr>
              <a:t>Code parsing, dependency extraction, structure mapping</a:t>
            </a:r>
            <a:endParaRPr lang="en-US" sz="860" dirty="0"/>
          </a:p>
        </p:txBody>
      </p:sp>
      <p:sp>
        <p:nvSpPr>
          <p:cNvPr id="17" name="Shape 15"/>
          <p:cNvSpPr/>
          <p:nvPr/>
        </p:nvSpPr>
        <p:spPr>
          <a:xfrm>
            <a:off x="6172200" y="2532888"/>
            <a:ext cx="470916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E8ECF1"/>
            </a:solidFill>
            <a:prstDash val="solid"/>
          </a:ln>
          <a:effectLst>
            <a:outerShdw sx="100000" sy="100000" kx="0" ky="0" algn="bl" rotWithShape="0" blurRad="12700" dist="50800" dir="2700000">
              <a:srgbClr val="D7DEE8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72200" y="2532888"/>
            <a:ext cx="54864" cy="78638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91656" y="2697480"/>
            <a:ext cx="4325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</a:rPr>
              <a:t>AI Layer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391656" y="3035808"/>
            <a:ext cx="43251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5B6472"/>
                </a:solidFill>
              </a:rPr>
              <a:t>RAG, contextual suggestions, reasoning prompts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777240" y="3648456"/>
            <a:ext cx="470916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E8ECF1"/>
            </a:solidFill>
            <a:prstDash val="solid"/>
          </a:ln>
          <a:effectLst>
            <a:outerShdw sx="100000" sy="100000" kx="0" ky="0" algn="bl" rotWithShape="0" blurRad="12700" dist="50800" dir="2700000">
              <a:srgbClr val="D7DEE8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77240" y="3648456"/>
            <a:ext cx="54864" cy="78638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96696" y="3813048"/>
            <a:ext cx="4325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</a:rPr>
              <a:t>Diagram Layer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996696" y="4151376"/>
            <a:ext cx="43251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5B6472"/>
                </a:solidFill>
              </a:rPr>
              <a:t>Architecture graph generation and JSON output</a:t>
            </a:r>
            <a:endParaRPr lang="en-US" sz="860" dirty="0"/>
          </a:p>
        </p:txBody>
      </p:sp>
      <p:sp>
        <p:nvSpPr>
          <p:cNvPr id="25" name="Shape 23"/>
          <p:cNvSpPr/>
          <p:nvPr/>
        </p:nvSpPr>
        <p:spPr>
          <a:xfrm>
            <a:off x="6172200" y="3648456"/>
            <a:ext cx="470916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E8ECF1"/>
            </a:solidFill>
            <a:prstDash val="solid"/>
          </a:ln>
          <a:effectLst>
            <a:outerShdw sx="100000" sy="100000" kx="0" ky="0" algn="bl" rotWithShape="0" blurRad="12700" dist="50800" dir="2700000">
              <a:srgbClr val="D7DEE8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72200" y="3648456"/>
            <a:ext cx="54864" cy="78638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91656" y="3813048"/>
            <a:ext cx="4325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</a:rPr>
              <a:t>Async Queue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391656" y="4151376"/>
            <a:ext cx="43251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5B6472"/>
                </a:solidFill>
              </a:rPr>
              <a:t>Large repo analysis, status, retries, job progress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777240" y="4764024"/>
            <a:ext cx="470916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E8ECF1"/>
            </a:solidFill>
            <a:prstDash val="solid"/>
          </a:ln>
          <a:effectLst>
            <a:outerShdw sx="100000" sy="100000" kx="0" ky="0" algn="bl" rotWithShape="0" blurRad="12700" dist="50800" dir="2700000">
              <a:srgbClr val="D7DEE8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77240" y="4764024"/>
            <a:ext cx="54864" cy="786384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96696" y="4928616"/>
            <a:ext cx="4325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</a:rPr>
              <a:t>Data Layer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996696" y="5266944"/>
            <a:ext cx="43251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5B6472"/>
                </a:solidFill>
              </a:rPr>
              <a:t>PostgreSQL metadata plus vector search storage</a:t>
            </a:r>
            <a:endParaRPr lang="en-US" sz="860" dirty="0"/>
          </a:p>
        </p:txBody>
      </p:sp>
      <p:sp>
        <p:nvSpPr>
          <p:cNvPr id="33" name="Text 31"/>
          <p:cNvSpPr/>
          <p:nvPr/>
        </p:nvSpPr>
        <p:spPr>
          <a:xfrm>
            <a:off x="9509760" y="6473952"/>
            <a:ext cx="2057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A93A3"/>
                </a:solidFill>
              </a:rPr>
              <a:t>Codara architecture roadmap | 4</a:t>
            </a:r>
            <a:endParaRPr lang="en-US" sz="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Data Flow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85216" y="758952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</a:rPr>
              <a:t>From repository upload to usable architecture intelligence.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85216" y="1143000"/>
            <a:ext cx="914400" cy="0"/>
          </a:xfrm>
          <a:prstGeom prst="line">
            <a:avLst/>
          </a:prstGeom>
          <a:noFill/>
          <a:ln w="2794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618488"/>
            <a:ext cx="329184" cy="201168"/>
          </a:xfrm>
          <a:prstGeom prst="ellipse">
            <a:avLst/>
          </a:prstGeom>
          <a:solidFill>
            <a:srgbClr val="16A34A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005840" y="157276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Upload repo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005840" y="1984248"/>
            <a:ext cx="1828800" cy="0"/>
          </a:xfrm>
          <a:prstGeom prst="line">
            <a:avLst/>
          </a:prstGeom>
          <a:noFill/>
          <a:ln w="15240">
            <a:solidFill>
              <a:srgbClr val="E8ECF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53512" y="1728216"/>
            <a:ext cx="320040" cy="0"/>
          </a:xfrm>
          <a:prstGeom prst="line">
            <a:avLst/>
          </a:prstGeom>
          <a:noFill/>
          <a:ln w="15240">
            <a:solidFill>
              <a:srgbClr val="AAB3C2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3383280" y="1618488"/>
            <a:ext cx="329184" cy="201168"/>
          </a:xfrm>
          <a:prstGeom prst="ellipse">
            <a:avLst/>
          </a:prstGeom>
          <a:solidFill>
            <a:srgbClr val="16A34A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794760" y="157276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Create job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794760" y="1984248"/>
            <a:ext cx="1828800" cy="0"/>
          </a:xfrm>
          <a:prstGeom prst="line">
            <a:avLst/>
          </a:prstGeom>
          <a:noFill/>
          <a:ln w="15240">
            <a:solidFill>
              <a:srgbClr val="E8ECF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742432" y="1728216"/>
            <a:ext cx="320040" cy="0"/>
          </a:xfrm>
          <a:prstGeom prst="line">
            <a:avLst/>
          </a:prstGeom>
          <a:noFill/>
          <a:ln w="15240">
            <a:solidFill>
              <a:srgbClr val="AAB3C2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6172200" y="1618488"/>
            <a:ext cx="329184" cy="201168"/>
          </a:xfrm>
          <a:prstGeom prst="ellipse">
            <a:avLst/>
          </a:prstGeom>
          <a:solidFill>
            <a:srgbClr val="16A34A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583680" y="157276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Queue work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583680" y="1984248"/>
            <a:ext cx="1828800" cy="0"/>
          </a:xfrm>
          <a:prstGeom prst="line">
            <a:avLst/>
          </a:prstGeom>
          <a:noFill/>
          <a:ln w="15240">
            <a:solidFill>
              <a:srgbClr val="E8ECF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31352" y="1728216"/>
            <a:ext cx="320040" cy="0"/>
          </a:xfrm>
          <a:prstGeom prst="line">
            <a:avLst/>
          </a:prstGeom>
          <a:noFill/>
          <a:ln w="15240">
            <a:solidFill>
              <a:srgbClr val="AAB3C2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8961120" y="1618488"/>
            <a:ext cx="329184" cy="201168"/>
          </a:xfrm>
          <a:prstGeom prst="ellipse">
            <a:avLst/>
          </a:prstGeom>
          <a:solidFill>
            <a:srgbClr val="16A34A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372600" y="157276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Analyze code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372600" y="1984248"/>
            <a:ext cx="1828800" cy="0"/>
          </a:xfrm>
          <a:prstGeom prst="line">
            <a:avLst/>
          </a:prstGeom>
          <a:noFill/>
          <a:ln w="15240">
            <a:solidFill>
              <a:srgbClr val="E8EC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557016"/>
            <a:ext cx="329184" cy="201168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5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005840" y="3511296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Store embeddings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005840" y="3922776"/>
            <a:ext cx="1828800" cy="0"/>
          </a:xfrm>
          <a:prstGeom prst="line">
            <a:avLst/>
          </a:prstGeom>
          <a:noFill/>
          <a:ln w="15240">
            <a:solidFill>
              <a:srgbClr val="E8ECF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53512" y="3666744"/>
            <a:ext cx="320040" cy="0"/>
          </a:xfrm>
          <a:prstGeom prst="line">
            <a:avLst/>
          </a:prstGeom>
          <a:noFill/>
          <a:ln w="15240">
            <a:solidFill>
              <a:srgbClr val="AAB3C2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3383280" y="3557016"/>
            <a:ext cx="329184" cy="201168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6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794760" y="3511296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Generate suggestions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794760" y="3922776"/>
            <a:ext cx="1828800" cy="0"/>
          </a:xfrm>
          <a:prstGeom prst="line">
            <a:avLst/>
          </a:prstGeom>
          <a:noFill/>
          <a:ln w="15240">
            <a:solidFill>
              <a:srgbClr val="E8ECF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742432" y="3666744"/>
            <a:ext cx="320040" cy="0"/>
          </a:xfrm>
          <a:prstGeom prst="line">
            <a:avLst/>
          </a:prstGeom>
          <a:noFill/>
          <a:ln w="15240">
            <a:solidFill>
              <a:srgbClr val="AAB3C2"/>
            </a:solidFill>
            <a:prstDash val="solid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6172200" y="3557016"/>
            <a:ext cx="329184" cy="201168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7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583680" y="3511296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Create diagram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583680" y="3922776"/>
            <a:ext cx="1828800" cy="0"/>
          </a:xfrm>
          <a:prstGeom prst="line">
            <a:avLst/>
          </a:prstGeom>
          <a:noFill/>
          <a:ln w="15240">
            <a:solidFill>
              <a:srgbClr val="E8ECF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531352" y="3666744"/>
            <a:ext cx="320040" cy="0"/>
          </a:xfrm>
          <a:prstGeom prst="line">
            <a:avLst/>
          </a:prstGeom>
          <a:noFill/>
          <a:ln w="15240">
            <a:solidFill>
              <a:srgbClr val="AAB3C2"/>
            </a:solidFill>
            <a:prstDash val="solid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8961120" y="3557016"/>
            <a:ext cx="329184" cy="201168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8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9372600" y="3511296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Fetch results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9372600" y="3922776"/>
            <a:ext cx="1828800" cy="0"/>
          </a:xfrm>
          <a:prstGeom prst="line">
            <a:avLst/>
          </a:prstGeom>
          <a:noFill/>
          <a:ln w="15240">
            <a:solidFill>
              <a:srgbClr val="E8ECF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2960" y="5532120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472"/>
                </a:solidFill>
              </a:rPr>
              <a:t>The same flow creates observability events: request received, analyzer started, AI reasoning completed, diagram generated, result saved.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9509760" y="6473952"/>
            <a:ext cx="2057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A93A3"/>
                </a:solidFill>
              </a:rPr>
              <a:t>Codara architecture roadmap | 5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API Contracts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85216" y="758952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</a:rPr>
              <a:t>Frontend and monitoring services depend on stable, simple endpoints.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85216" y="1143000"/>
            <a:ext cx="914400" cy="0"/>
          </a:xfrm>
          <a:prstGeom prst="line">
            <a:avLst/>
          </a:prstGeom>
          <a:noFill/>
          <a:ln w="2794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4173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563EB"/>
                </a:solidFill>
              </a:rPr>
              <a:t>POST /analyze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3703320" y="1417320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Start repository analysis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914400" y="1810512"/>
            <a:ext cx="9784080" cy="0"/>
          </a:xfrm>
          <a:prstGeom prst="line">
            <a:avLst/>
          </a:prstGeom>
          <a:noFill/>
          <a:ln w="12700">
            <a:solidFill>
              <a:srgbClr val="E8EC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07568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563EB"/>
                </a:solidFill>
              </a:rPr>
              <a:t>GET /analysis/{id}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703320" y="2075688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Fetch status and results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914400" y="2468880"/>
            <a:ext cx="9784080" cy="0"/>
          </a:xfrm>
          <a:prstGeom prst="line">
            <a:avLst/>
          </a:prstGeom>
          <a:noFill/>
          <a:ln w="12700">
            <a:solidFill>
              <a:srgbClr val="E8EC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73405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563EB"/>
                </a:solidFill>
              </a:rPr>
              <a:t>POST /chat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703320" y="2734056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Ask the AI about repo context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14400" y="3127248"/>
            <a:ext cx="9784080" cy="0"/>
          </a:xfrm>
          <a:prstGeom prst="line">
            <a:avLst/>
          </a:prstGeom>
          <a:noFill/>
          <a:ln w="12700">
            <a:solidFill>
              <a:srgbClr val="E8ECF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39242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563EB"/>
                </a:solidFill>
              </a:rPr>
              <a:t>GET /diagram/{id}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703320" y="3392424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Fetch architecture diagram JSON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14400" y="3785616"/>
            <a:ext cx="9784080" cy="0"/>
          </a:xfrm>
          <a:prstGeom prst="line">
            <a:avLst/>
          </a:prstGeom>
          <a:noFill/>
          <a:ln w="12700">
            <a:solidFill>
              <a:srgbClr val="E8EC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0507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563EB"/>
                </a:solidFill>
              </a:rPr>
              <a:t>GET /health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703320" y="4050792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Report service health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14400" y="4443984"/>
            <a:ext cx="9784080" cy="0"/>
          </a:xfrm>
          <a:prstGeom prst="line">
            <a:avLst/>
          </a:prstGeom>
          <a:noFill/>
          <a:ln w="12700">
            <a:solidFill>
              <a:srgbClr val="E8EC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47091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563EB"/>
                </a:solidFill>
              </a:rPr>
              <a:t>GET /metrics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703320" y="4709160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Expose Prometheus metrics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14400" y="5102352"/>
            <a:ext cx="9784080" cy="0"/>
          </a:xfrm>
          <a:prstGeom prst="line">
            <a:avLst/>
          </a:prstGeom>
          <a:noFill/>
          <a:ln w="12700">
            <a:solidFill>
              <a:srgbClr val="E8EC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509760" y="6473952"/>
            <a:ext cx="2057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A93A3"/>
                </a:solidFill>
              </a:rPr>
              <a:t>Codara architecture roadmap | 6</a:t>
            </a:r>
            <a:endParaRPr lang="en-US" sz="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Pipeline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85216" y="758952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</a:rPr>
              <a:t>RAG-based architecture intelligence turns static code into contextual help.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85216" y="1143000"/>
            <a:ext cx="914400" cy="0"/>
          </a:xfrm>
          <a:prstGeom prst="line">
            <a:avLst/>
          </a:prstGeom>
          <a:noFill/>
          <a:ln w="2794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874520"/>
            <a:ext cx="1874520" cy="23317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8ECF1"/>
            </a:solidFill>
            <a:prstDash val="solid"/>
          </a:ln>
          <a:effectLst>
            <a:outerShdw sx="100000" sy="100000" kx="0" ky="0" algn="bl" rotWithShape="0" blurRad="12700" dist="50800" dir="2700000">
              <a:srgbClr val="D7DEE8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874520"/>
            <a:ext cx="54864" cy="23317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05256" y="2039112"/>
            <a:ext cx="1490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</a:rPr>
              <a:t>Extract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05256" y="2377440"/>
            <a:ext cx="1490472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5B6472"/>
                </a:solidFill>
              </a:rPr>
              <a:t>Analyzer builds code structure and dependency map.</a:t>
            </a:r>
            <a:endParaRPr lang="en-US" sz="860" dirty="0"/>
          </a:p>
        </p:txBody>
      </p:sp>
      <p:sp>
        <p:nvSpPr>
          <p:cNvPr id="9" name="Shape 7"/>
          <p:cNvSpPr/>
          <p:nvPr/>
        </p:nvSpPr>
        <p:spPr>
          <a:xfrm>
            <a:off x="2926080" y="1874520"/>
            <a:ext cx="1874520" cy="23317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8ECF1"/>
            </a:solidFill>
            <a:prstDash val="solid"/>
          </a:ln>
          <a:effectLst>
            <a:outerShdw sx="100000" sy="100000" kx="0" ky="0" algn="bl" rotWithShape="0" blurRad="12700" dist="50800" dir="2700000">
              <a:srgbClr val="D7DEE8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926080" y="1874520"/>
            <a:ext cx="54864" cy="2331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45536" y="2039112"/>
            <a:ext cx="1490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</a:rPr>
              <a:t>Chunk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145536" y="2377440"/>
            <a:ext cx="1490472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5B6472"/>
                </a:solidFill>
              </a:rPr>
              <a:t>Code and metadata are split into retrieval-friendly units.</a:t>
            </a:r>
            <a:endParaRPr lang="en-US" sz="860" dirty="0"/>
          </a:p>
        </p:txBody>
      </p:sp>
      <p:sp>
        <p:nvSpPr>
          <p:cNvPr id="13" name="Shape 11"/>
          <p:cNvSpPr/>
          <p:nvPr/>
        </p:nvSpPr>
        <p:spPr>
          <a:xfrm>
            <a:off x="5166360" y="1874520"/>
            <a:ext cx="1874520" cy="23317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8ECF1"/>
            </a:solidFill>
            <a:prstDash val="solid"/>
          </a:ln>
          <a:effectLst>
            <a:outerShdw sx="100000" sy="100000" kx="0" ky="0" algn="bl" rotWithShape="0" blurRad="12700" dist="50800" dir="2700000">
              <a:srgbClr val="D7DEE8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166360" y="1874520"/>
            <a:ext cx="54864" cy="2331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85816" y="2039112"/>
            <a:ext cx="1490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</a:rPr>
              <a:t>Embed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385816" y="2377440"/>
            <a:ext cx="1490472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5B6472"/>
                </a:solidFill>
              </a:rPr>
              <a:t>Chunks become vectors and are stored for semantic search.</a:t>
            </a:r>
            <a:endParaRPr lang="en-US" sz="860" dirty="0"/>
          </a:p>
        </p:txBody>
      </p:sp>
      <p:sp>
        <p:nvSpPr>
          <p:cNvPr id="17" name="Shape 15"/>
          <p:cNvSpPr/>
          <p:nvPr/>
        </p:nvSpPr>
        <p:spPr>
          <a:xfrm>
            <a:off x="7406640" y="1874520"/>
            <a:ext cx="1874520" cy="23317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8ECF1"/>
            </a:solidFill>
            <a:prstDash val="solid"/>
          </a:ln>
          <a:effectLst>
            <a:outerShdw sx="100000" sy="100000" kx="0" ky="0" algn="bl" rotWithShape="0" blurRad="12700" dist="50800" dir="2700000">
              <a:srgbClr val="D7DEE8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406640" y="1874520"/>
            <a:ext cx="54864" cy="2331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26096" y="2039112"/>
            <a:ext cx="1490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</a:rPr>
              <a:t>Retrieve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626096" y="2377440"/>
            <a:ext cx="1490472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5B6472"/>
                </a:solidFill>
              </a:rPr>
              <a:t>User question pulls relevant codebase context.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9646920" y="1874520"/>
            <a:ext cx="1874520" cy="23317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8ECF1"/>
            </a:solidFill>
            <a:prstDash val="solid"/>
          </a:ln>
          <a:effectLst>
            <a:outerShdw sx="100000" sy="100000" kx="0" ky="0" algn="bl" rotWithShape="0" blurRad="12700" dist="50800" dir="2700000">
              <a:srgbClr val="D7DEE8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646920" y="1874520"/>
            <a:ext cx="54864" cy="2331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866376" y="2039112"/>
            <a:ext cx="1490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</a:rPr>
              <a:t>Reason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9866376" y="2377440"/>
            <a:ext cx="1490472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5B6472"/>
                </a:solidFill>
              </a:rPr>
              <a:t>LLM generates suggestions, summaries, and design guidance.</a:t>
            </a:r>
            <a:endParaRPr lang="en-US" sz="860" dirty="0"/>
          </a:p>
        </p:txBody>
      </p:sp>
      <p:sp>
        <p:nvSpPr>
          <p:cNvPr id="25" name="Text 23"/>
          <p:cNvSpPr/>
          <p:nvPr/>
        </p:nvSpPr>
        <p:spPr>
          <a:xfrm>
            <a:off x="1005840" y="512064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Phase 1 can start with embeddings and natural-language queries; later phases deepen project-wide reasoning and automation.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509760" y="6473952"/>
            <a:ext cx="2057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A93A3"/>
                </a:solidFill>
              </a:rPr>
              <a:t>Codara architecture roadmap | 7</a:t>
            </a:r>
            <a:endParaRPr lang="en-US" sz="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Codara Roadmap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85216" y="758952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</a:rPr>
              <a:t>A practical path from MVP assistant to enterprise architecture intelligence platform.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85216" y="1143000"/>
            <a:ext cx="914400" cy="0"/>
          </a:xfrm>
          <a:prstGeom prst="line">
            <a:avLst/>
          </a:prstGeom>
          <a:noFill/>
          <a:ln w="2794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52144" y="1828800"/>
            <a:ext cx="2148840" cy="0"/>
          </a:xfrm>
          <a:prstGeom prst="line">
            <a:avLst/>
          </a:prstGeom>
          <a:noFill/>
          <a:ln w="15240">
            <a:solidFill>
              <a:srgbClr val="B9C3D1"/>
            </a:solidFill>
            <a:prstDash val="solid"/>
            <a:tailEnd type="triangle"/>
          </a:ln>
        </p:spPr>
      </p:sp>
      <p:sp>
        <p:nvSpPr>
          <p:cNvPr id="6" name="Text 4"/>
          <p:cNvSpPr/>
          <p:nvPr/>
        </p:nvSpPr>
        <p:spPr>
          <a:xfrm>
            <a:off x="731520" y="1673352"/>
            <a:ext cx="329184" cy="201168"/>
          </a:xfrm>
          <a:prstGeom prst="ellipse">
            <a:avLst/>
          </a:prstGeom>
          <a:solidFill>
            <a:srgbClr val="16A34A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31520" y="224028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</a:rPr>
              <a:t>Phase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" y="2578608"/>
            <a:ext cx="2240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MVP now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3364992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B6472"/>
                </a:solidFill>
              </a:rPr>
              <a:t>Useful architecture assistant developers can start using.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3968496" y="1828800"/>
            <a:ext cx="2148840" cy="0"/>
          </a:xfrm>
          <a:prstGeom prst="line">
            <a:avLst/>
          </a:prstGeom>
          <a:noFill/>
          <a:ln w="15240">
            <a:solidFill>
              <a:srgbClr val="B9C3D1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3547872" y="1673352"/>
            <a:ext cx="329184" cy="201168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47872" y="224028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Phase 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547872" y="2578608"/>
            <a:ext cx="2240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Advanced AI during MSc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547872" y="3364992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B6472"/>
                </a:solidFill>
              </a:rPr>
              <a:t>Deeper intelligence, metrics, partial automation, dataset growth.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6784848" y="1828800"/>
            <a:ext cx="2148840" cy="0"/>
          </a:xfrm>
          <a:prstGeom prst="line">
            <a:avLst/>
          </a:prstGeom>
          <a:noFill/>
          <a:ln w="15240">
            <a:solidFill>
              <a:srgbClr val="B9C3D1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6364224" y="1673352"/>
            <a:ext cx="329184" cy="201168"/>
          </a:xfrm>
          <a:prstGeom prst="ellipse">
            <a:avLst/>
          </a:prstGeom>
          <a:solidFill>
            <a:srgbClr val="7C3AED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364224" y="224028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</a:rPr>
              <a:t>Phase 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364224" y="2578608"/>
            <a:ext cx="2240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Research-powered during PhD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64224" y="3364992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B6472"/>
                </a:solidFill>
              </a:rPr>
              <a:t>Deep architecture reasoning, multi-agent review, proactive help.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9601200" y="1828800"/>
            <a:ext cx="2148840" cy="0"/>
          </a:xfrm>
          <a:prstGeom prst="line">
            <a:avLst/>
          </a:prstGeom>
          <a:noFill/>
          <a:ln w="15240">
            <a:solidFill>
              <a:srgbClr val="FFFFFF"/>
            </a:solidFill>
            <a:prstDash val="solid"/>
            <a:tailEnd type="none"/>
          </a:ln>
        </p:spPr>
      </p:sp>
      <p:sp>
        <p:nvSpPr>
          <p:cNvPr id="21" name="Text 19"/>
          <p:cNvSpPr/>
          <p:nvPr/>
        </p:nvSpPr>
        <p:spPr>
          <a:xfrm>
            <a:off x="9180576" y="1673352"/>
            <a:ext cx="329184" cy="201168"/>
          </a:xfrm>
          <a:prstGeom prst="ellipse">
            <a:avLst/>
          </a:prstGeom>
          <a:solidFill>
            <a:srgbClr val="D97706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9180576" y="224028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</a:rPr>
              <a:t>Phase 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180576" y="2578608"/>
            <a:ext cx="2240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Global AI platform post-PhD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180576" y="3364992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B6472"/>
                </a:solidFill>
              </a:rPr>
              <a:t>Enterprise SaaS, cross-project intelligence, continuous learning.</a:t>
            </a:r>
            <a:endParaRPr lang="en-US" sz="920" dirty="0"/>
          </a:p>
        </p:txBody>
      </p:sp>
      <p:sp>
        <p:nvSpPr>
          <p:cNvPr id="25" name="Text 23"/>
          <p:cNvSpPr/>
          <p:nvPr/>
        </p:nvSpPr>
        <p:spPr>
          <a:xfrm>
            <a:off x="9509760" y="6473952"/>
            <a:ext cx="2057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A93A3"/>
                </a:solidFill>
              </a:rPr>
              <a:t>Codara architecture roadmap | 8</a:t>
            </a:r>
            <a:endParaRPr lang="en-US" sz="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Phase 1 - MVP (Now)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85216" y="758952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</a:rPr>
              <a:t>Goal: build a useful architecture assistant developers can start using.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85216" y="1143000"/>
            <a:ext cx="914400" cy="0"/>
          </a:xfrm>
          <a:prstGeom prst="line">
            <a:avLst/>
          </a:prstGeom>
          <a:noFill/>
          <a:ln w="2794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517904"/>
            <a:ext cx="245059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8ECF1"/>
            </a:solidFill>
            <a:prstDash val="solid"/>
          </a:ln>
          <a:effectLst>
            <a:outerShdw sx="100000" sy="100000" kx="0" ky="0" algn="bl" rotWithShape="0" blurRad="12700" dist="50800" dir="2700000">
              <a:srgbClr val="D7DEE8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58368" y="1517904"/>
            <a:ext cx="54864" cy="16916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1682496"/>
            <a:ext cx="2066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</a:rPr>
              <a:t>Codebase understanding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77824" y="2020824"/>
            <a:ext cx="2066544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5B6472"/>
                </a:solidFill>
              </a:rPr>
              <a:t>Analyze repositories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5B6472"/>
                </a:solidFill>
              </a:rPr>
              <a:t>Map modules/classes/functions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5B6472"/>
                </a:solidFill>
              </a:rPr>
              <a:t>Show dependencies</a:t>
            </a:r>
            <a:endParaRPr lang="en-US" sz="860" dirty="0"/>
          </a:p>
        </p:txBody>
      </p:sp>
      <p:sp>
        <p:nvSpPr>
          <p:cNvPr id="9" name="Shape 7"/>
          <p:cNvSpPr/>
          <p:nvPr/>
        </p:nvSpPr>
        <p:spPr>
          <a:xfrm>
            <a:off x="3566160" y="1517904"/>
            <a:ext cx="245059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8ECF1"/>
            </a:solidFill>
            <a:prstDash val="solid"/>
          </a:ln>
          <a:effectLst>
            <a:outerShdw sx="100000" sy="100000" kx="0" ky="0" algn="bl" rotWithShape="0" blurRad="12700" dist="50800" dir="2700000">
              <a:srgbClr val="D7DEE8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66160" y="1517904"/>
            <a:ext cx="54864" cy="16916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85616" y="1682496"/>
            <a:ext cx="2066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</a:rPr>
              <a:t>Contextual suggestions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785616" y="2020824"/>
            <a:ext cx="2066544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5B6472"/>
                </a:solidFill>
              </a:rPr>
              <a:t>Detect anti-patterns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5B6472"/>
                </a:solidFill>
              </a:rPr>
              <a:t>Provide smart hints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5B6472"/>
                </a:solidFill>
              </a:rPr>
              <a:t>Improve with context</a:t>
            </a:r>
            <a:endParaRPr lang="en-US" sz="860" dirty="0"/>
          </a:p>
        </p:txBody>
      </p:sp>
      <p:sp>
        <p:nvSpPr>
          <p:cNvPr id="13" name="Shape 11"/>
          <p:cNvSpPr/>
          <p:nvPr/>
        </p:nvSpPr>
        <p:spPr>
          <a:xfrm>
            <a:off x="6473952" y="1517904"/>
            <a:ext cx="245059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8ECF1"/>
            </a:solidFill>
            <a:prstDash val="solid"/>
          </a:ln>
          <a:effectLst>
            <a:outerShdw sx="100000" sy="100000" kx="0" ky="0" algn="bl" rotWithShape="0" blurRad="12700" dist="50800" dir="2700000">
              <a:srgbClr val="D7DEE8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73952" y="1517904"/>
            <a:ext cx="54864" cy="16916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93408" y="1682496"/>
            <a:ext cx="2066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</a:rPr>
              <a:t>Architecture visualization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693408" y="2020824"/>
            <a:ext cx="2066544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5B6472"/>
                </a:solidFill>
              </a:rPr>
              <a:t>Generate component diagrams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5B6472"/>
                </a:solidFill>
              </a:rPr>
              <a:t>Highlight bottlenecks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5B6472"/>
                </a:solidFill>
              </a:rPr>
              <a:t>Show critical paths</a:t>
            </a:r>
            <a:endParaRPr lang="en-US" sz="860" dirty="0"/>
          </a:p>
        </p:txBody>
      </p:sp>
      <p:sp>
        <p:nvSpPr>
          <p:cNvPr id="17" name="Shape 15"/>
          <p:cNvSpPr/>
          <p:nvPr/>
        </p:nvSpPr>
        <p:spPr>
          <a:xfrm>
            <a:off x="9381744" y="1517904"/>
            <a:ext cx="245059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8ECF1"/>
            </a:solidFill>
            <a:prstDash val="solid"/>
          </a:ln>
          <a:effectLst>
            <a:outerShdw sx="100000" sy="100000" kx="0" ky="0" algn="bl" rotWithShape="0" blurRad="12700" dist="50800" dir="2700000">
              <a:srgbClr val="D7DEE8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381744" y="1517904"/>
            <a:ext cx="54864" cy="16916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0" y="1682496"/>
            <a:ext cx="2066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</a:rPr>
              <a:t>Onboarding aid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9601200" y="2020824"/>
            <a:ext cx="2066544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5B6472"/>
                </a:solidFill>
              </a:rPr>
              <a:t>Summarize codebase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5B6472"/>
                </a:solidFill>
              </a:rPr>
              <a:t>Highlight key modules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5B6472"/>
                </a:solidFill>
              </a:rPr>
              <a:t>Guide new developers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658368" y="3977640"/>
            <a:ext cx="245059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8ECF1"/>
            </a:solidFill>
            <a:prstDash val="solid"/>
          </a:ln>
          <a:effectLst>
            <a:outerShdw sx="100000" sy="100000" kx="0" ky="0" algn="bl" rotWithShape="0" blurRad="12700" dist="50800" dir="2700000">
              <a:srgbClr val="D7DEE8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58368" y="3977640"/>
            <a:ext cx="54864" cy="16916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77824" y="4142232"/>
            <a:ext cx="2066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</a:rPr>
              <a:t>Refactoring alerts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77824" y="4480560"/>
            <a:ext cx="2066544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5B6472"/>
                </a:solidFill>
              </a:rPr>
              <a:t>Simple refactoring suggestions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5B6472"/>
                </a:solidFill>
              </a:rPr>
              <a:t>Dead code warnings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5B6472"/>
                </a:solidFill>
              </a:rPr>
              <a:t>Circular dependency checks</a:t>
            </a:r>
            <a:endParaRPr lang="en-US" sz="860" dirty="0"/>
          </a:p>
        </p:txBody>
      </p:sp>
      <p:sp>
        <p:nvSpPr>
          <p:cNvPr id="25" name="Shape 23"/>
          <p:cNvSpPr/>
          <p:nvPr/>
        </p:nvSpPr>
        <p:spPr>
          <a:xfrm>
            <a:off x="3566160" y="3977640"/>
            <a:ext cx="245059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8ECF1"/>
            </a:solidFill>
            <a:prstDash val="solid"/>
          </a:ln>
          <a:effectLst>
            <a:outerShdw sx="100000" sy="100000" kx="0" ky="0" algn="bl" rotWithShape="0" blurRad="12700" dist="50800" dir="2700000">
              <a:srgbClr val="D7DEE8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566160" y="3977640"/>
            <a:ext cx="54864" cy="16916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85616" y="4142232"/>
            <a:ext cx="2066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</a:rPr>
              <a:t>Powerful optional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3785616" y="4480560"/>
            <a:ext cx="2066544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5B6472"/>
                </a:solidFill>
              </a:rPr>
              <a:t>Semantic search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5B6472"/>
                </a:solidFill>
              </a:rPr>
              <a:t>Natural language queries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5B6472"/>
                </a:solidFill>
              </a:rPr>
              <a:t>Auth module discovery</a:t>
            </a:r>
            <a:endParaRPr lang="en-US" sz="860" dirty="0"/>
          </a:p>
        </p:txBody>
      </p:sp>
      <p:sp>
        <p:nvSpPr>
          <p:cNvPr id="29" name="Text 27"/>
          <p:cNvSpPr/>
          <p:nvPr/>
        </p:nvSpPr>
        <p:spPr>
          <a:xfrm>
            <a:off x="9509760" y="6473952"/>
            <a:ext cx="2057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A93A3"/>
                </a:solidFill>
              </a:rPr>
              <a:t>Codara architecture roadmap | 9</a:t>
            </a:r>
            <a:endParaRPr lang="en-US" sz="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Phase 2 - Advanced AI Intelligence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85216" y="758952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</a:rPr>
              <a:t>Goal: upgrade Codara with deeper intelligence during MSc.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85216" y="1143000"/>
            <a:ext cx="914400" cy="0"/>
          </a:xfrm>
          <a:prstGeom prst="line">
            <a:avLst/>
          </a:prstGeom>
          <a:noFill/>
          <a:ln w="2794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517904"/>
            <a:ext cx="245059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8ECF1"/>
            </a:solidFill>
            <a:prstDash val="solid"/>
          </a:ln>
          <a:effectLst>
            <a:outerShdw sx="100000" sy="100000" kx="0" ky="0" algn="bl" rotWithShape="0" blurRad="12700" dist="50800" dir="2700000">
              <a:srgbClr val="D7DEE8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58368" y="1517904"/>
            <a:ext cx="54864" cy="16916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1682496"/>
            <a:ext cx="2066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</a:rPr>
              <a:t>Advanced understanding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77824" y="2020824"/>
            <a:ext cx="2066544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5B6472"/>
                </a:solidFill>
              </a:rPr>
              <a:t>Whole-project context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5B6472"/>
                </a:solidFill>
              </a:rPr>
              <a:t>Service relationships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5B6472"/>
                </a:solidFill>
              </a:rPr>
              <a:t>Library dependency tracking</a:t>
            </a:r>
            <a:endParaRPr lang="en-US" sz="860" dirty="0"/>
          </a:p>
        </p:txBody>
      </p:sp>
      <p:sp>
        <p:nvSpPr>
          <p:cNvPr id="9" name="Shape 7"/>
          <p:cNvSpPr/>
          <p:nvPr/>
        </p:nvSpPr>
        <p:spPr>
          <a:xfrm>
            <a:off x="3566160" y="1517904"/>
            <a:ext cx="245059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8ECF1"/>
            </a:solidFill>
            <a:prstDash val="solid"/>
          </a:ln>
          <a:effectLst>
            <a:outerShdw sx="100000" sy="100000" kx="0" ky="0" algn="bl" rotWithShape="0" blurRad="12700" dist="50800" dir="2700000">
              <a:srgbClr val="D7DEE8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66160" y="1517904"/>
            <a:ext cx="54864" cy="16916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85616" y="1682496"/>
            <a:ext cx="2066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</a:rPr>
              <a:t>Intelligent suggestions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785616" y="2020824"/>
            <a:ext cx="2066544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5B6472"/>
                </a:solidFill>
              </a:rPr>
              <a:t>Architecture-aware improvements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5B6472"/>
                </a:solidFill>
              </a:rPr>
              <a:t>Refactoring recommendations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5B6472"/>
                </a:solidFill>
              </a:rPr>
              <a:t>Design-aware guidance</a:t>
            </a:r>
            <a:endParaRPr lang="en-US" sz="860" dirty="0"/>
          </a:p>
        </p:txBody>
      </p:sp>
      <p:sp>
        <p:nvSpPr>
          <p:cNvPr id="13" name="Shape 11"/>
          <p:cNvSpPr/>
          <p:nvPr/>
        </p:nvSpPr>
        <p:spPr>
          <a:xfrm>
            <a:off x="6473952" y="1517904"/>
            <a:ext cx="245059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8ECF1"/>
            </a:solidFill>
            <a:prstDash val="solid"/>
          </a:ln>
          <a:effectLst>
            <a:outerShdw sx="100000" sy="100000" kx="0" ky="0" algn="bl" rotWithShape="0" blurRad="12700" dist="50800" dir="2700000">
              <a:srgbClr val="D7DEE8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73952" y="1517904"/>
            <a:ext cx="54864" cy="16916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93408" y="1682496"/>
            <a:ext cx="2066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</a:rPr>
              <a:t>Analytics and metrics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693408" y="2020824"/>
            <a:ext cx="2066544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5B6472"/>
                </a:solidFill>
              </a:rPr>
              <a:t>High-risk areas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5B6472"/>
                </a:solidFill>
              </a:rPr>
              <a:t>Maintainability scores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5B6472"/>
                </a:solidFill>
              </a:rPr>
              <a:t>Architecture health view</a:t>
            </a:r>
            <a:endParaRPr lang="en-US" sz="860" dirty="0"/>
          </a:p>
        </p:txBody>
      </p:sp>
      <p:sp>
        <p:nvSpPr>
          <p:cNvPr id="17" name="Shape 15"/>
          <p:cNvSpPr/>
          <p:nvPr/>
        </p:nvSpPr>
        <p:spPr>
          <a:xfrm>
            <a:off x="9381744" y="1517904"/>
            <a:ext cx="245059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8ECF1"/>
            </a:solidFill>
            <a:prstDash val="solid"/>
          </a:ln>
          <a:effectLst>
            <a:outerShdw sx="100000" sy="100000" kx="0" ky="0" algn="bl" rotWithShape="0" blurRad="12700" dist="50800" dir="2700000">
              <a:srgbClr val="D7DEE8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381744" y="1517904"/>
            <a:ext cx="54864" cy="16916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0" y="1682496"/>
            <a:ext cx="2066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</a:rPr>
              <a:t>Partial automation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9601200" y="2020824"/>
            <a:ext cx="2066544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5B6472"/>
                </a:solidFill>
              </a:rPr>
              <a:t>Small refactoring tasks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5B6472"/>
                </a:solidFill>
              </a:rPr>
              <a:t>Dependency cleanup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5B6472"/>
                </a:solidFill>
              </a:rPr>
              <a:t>Assisted fixes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658368" y="3977640"/>
            <a:ext cx="245059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8ECF1"/>
            </a:solidFill>
            <a:prstDash val="solid"/>
          </a:ln>
          <a:effectLst>
            <a:outerShdw sx="100000" sy="100000" kx="0" ky="0" algn="bl" rotWithShape="0" blurRad="12700" dist="50800" dir="2700000">
              <a:srgbClr val="D7DEE8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58368" y="3977640"/>
            <a:ext cx="54864" cy="16916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77824" y="4142232"/>
            <a:ext cx="2066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</a:rPr>
              <a:t>Dataset growth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77824" y="4480560"/>
            <a:ext cx="2066544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5B6472"/>
                </a:solidFill>
              </a:rPr>
              <a:t>Anonymized usage data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5B6472"/>
                </a:solidFill>
              </a:rPr>
              <a:t>Training dataset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5B6472"/>
                </a:solidFill>
              </a:rPr>
              <a:t>Feedback loop</a:t>
            </a:r>
            <a:endParaRPr lang="en-US" sz="860" dirty="0"/>
          </a:p>
        </p:txBody>
      </p:sp>
      <p:sp>
        <p:nvSpPr>
          <p:cNvPr id="25" name="Text 23"/>
          <p:cNvSpPr/>
          <p:nvPr/>
        </p:nvSpPr>
        <p:spPr>
          <a:xfrm>
            <a:off x="9509760" y="6473952"/>
            <a:ext cx="2057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A93A3"/>
                </a:solidFill>
              </a:rPr>
              <a:t>Codara architecture roadmap | 10</a:t>
            </a:r>
            <a:endParaRPr lang="en-US" sz="6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Phase 3 - Research-Powered Assistant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85216" y="758952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</a:rPr>
              <a:t>Goal: turn Codara into deep-tech AI during PhD.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85216" y="1143000"/>
            <a:ext cx="914400" cy="0"/>
          </a:xfrm>
          <a:prstGeom prst="line">
            <a:avLst/>
          </a:prstGeom>
          <a:noFill/>
          <a:ln w="2794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517904"/>
            <a:ext cx="245059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8ECF1"/>
            </a:solidFill>
            <a:prstDash val="solid"/>
          </a:ln>
          <a:effectLst>
            <a:outerShdw sx="100000" sy="100000" kx="0" ky="0" algn="bl" rotWithShape="0" blurRad="12700" dist="50800" dir="2700000">
              <a:srgbClr val="D7DEE8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58368" y="1517904"/>
            <a:ext cx="54864" cy="1691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1682496"/>
            <a:ext cx="2066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</a:rPr>
              <a:t>Deep reasoning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77824" y="2020824"/>
            <a:ext cx="2066544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5B6472"/>
                </a:solidFill>
              </a:rPr>
              <a:t>System-wide patterns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5B6472"/>
                </a:solidFill>
              </a:rPr>
              <a:t>Design flaw detection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5B6472"/>
                </a:solidFill>
              </a:rPr>
              <a:t>Architecture diagnosis</a:t>
            </a:r>
            <a:endParaRPr lang="en-US" sz="860" dirty="0"/>
          </a:p>
        </p:txBody>
      </p:sp>
      <p:sp>
        <p:nvSpPr>
          <p:cNvPr id="9" name="Shape 7"/>
          <p:cNvSpPr/>
          <p:nvPr/>
        </p:nvSpPr>
        <p:spPr>
          <a:xfrm>
            <a:off x="3566160" y="1517904"/>
            <a:ext cx="245059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8ECF1"/>
            </a:solidFill>
            <a:prstDash val="solid"/>
          </a:ln>
          <a:effectLst>
            <a:outerShdw sx="100000" sy="100000" kx="0" ky="0" algn="bl" rotWithShape="0" blurRad="12700" dist="50800" dir="2700000">
              <a:srgbClr val="D7DEE8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66160" y="1517904"/>
            <a:ext cx="54864" cy="1691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85616" y="1682496"/>
            <a:ext cx="2066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</a:rPr>
              <a:t>Multi-agent review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785616" y="2020824"/>
            <a:ext cx="2066544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5B6472"/>
                </a:solidFill>
              </a:rPr>
              <a:t>Specialized AI agents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5B6472"/>
                </a:solidFill>
              </a:rPr>
              <a:t>Collaborative code review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5B6472"/>
                </a:solidFill>
              </a:rPr>
              <a:t>Engineering team simulation</a:t>
            </a:r>
            <a:endParaRPr lang="en-US" sz="860" dirty="0"/>
          </a:p>
        </p:txBody>
      </p:sp>
      <p:sp>
        <p:nvSpPr>
          <p:cNvPr id="13" name="Shape 11"/>
          <p:cNvSpPr/>
          <p:nvPr/>
        </p:nvSpPr>
        <p:spPr>
          <a:xfrm>
            <a:off x="6473952" y="1517904"/>
            <a:ext cx="245059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8ECF1"/>
            </a:solidFill>
            <a:prstDash val="solid"/>
          </a:ln>
          <a:effectLst>
            <a:outerShdw sx="100000" sy="100000" kx="0" ky="0" algn="bl" rotWithShape="0" blurRad="12700" dist="50800" dir="2700000">
              <a:srgbClr val="D7DEE8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73952" y="1517904"/>
            <a:ext cx="54864" cy="1691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93408" y="1682496"/>
            <a:ext cx="2066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</a:rPr>
              <a:t>Predictive assistance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693408" y="2020824"/>
            <a:ext cx="2066544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5B6472"/>
                </a:solidFill>
              </a:rPr>
              <a:t>Future bottleneck prediction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5B6472"/>
                </a:solidFill>
              </a:rPr>
              <a:t>Proactive architecture ideas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5B6472"/>
                </a:solidFill>
              </a:rPr>
              <a:t>Risk forecasting</a:t>
            </a:r>
            <a:endParaRPr lang="en-US" sz="860" dirty="0"/>
          </a:p>
        </p:txBody>
      </p:sp>
      <p:sp>
        <p:nvSpPr>
          <p:cNvPr id="17" name="Shape 15"/>
          <p:cNvSpPr/>
          <p:nvPr/>
        </p:nvSpPr>
        <p:spPr>
          <a:xfrm>
            <a:off x="9381744" y="1517904"/>
            <a:ext cx="245059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8ECF1"/>
            </a:solidFill>
            <a:prstDash val="solid"/>
          </a:ln>
          <a:effectLst>
            <a:outerShdw sx="100000" sy="100000" kx="0" ky="0" algn="bl" rotWithShape="0" blurRad="12700" dist="50800" dir="2700000">
              <a:srgbClr val="D7DEE8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381744" y="1517904"/>
            <a:ext cx="54864" cy="1691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0" y="1682496"/>
            <a:ext cx="2066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</a:rPr>
              <a:t>Knowledge transfer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9601200" y="2020824"/>
            <a:ext cx="2066544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5B6472"/>
                </a:solidFill>
              </a:rPr>
              <a:t>Teach new developers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5B6472"/>
                </a:solidFill>
              </a:rPr>
              <a:t>Dependency summaries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5B6472"/>
                </a:solidFill>
              </a:rPr>
              <a:t>History-aware onboarding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658368" y="3977640"/>
            <a:ext cx="245059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8ECF1"/>
            </a:solidFill>
            <a:prstDash val="solid"/>
          </a:ln>
          <a:effectLst>
            <a:outerShdw sx="100000" sy="100000" kx="0" ky="0" algn="bl" rotWithShape="0" blurRad="12700" dist="50800" dir="2700000">
              <a:srgbClr val="D7DEE8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58368" y="3977640"/>
            <a:ext cx="54864" cy="1691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77824" y="4142232"/>
            <a:ext cx="2066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</a:rPr>
              <a:t>Enterprise integration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77824" y="4480560"/>
            <a:ext cx="2066544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5B6472"/>
                </a:solidFill>
              </a:rPr>
              <a:t>CI/CD integration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5B6472"/>
                </a:solidFill>
              </a:rPr>
              <a:t>Manager dashboards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5B6472"/>
                </a:solidFill>
              </a:rPr>
              <a:t>Governance signals</a:t>
            </a:r>
            <a:endParaRPr lang="en-US" sz="860" dirty="0"/>
          </a:p>
        </p:txBody>
      </p:sp>
      <p:sp>
        <p:nvSpPr>
          <p:cNvPr id="25" name="Text 23"/>
          <p:cNvSpPr/>
          <p:nvPr/>
        </p:nvSpPr>
        <p:spPr>
          <a:xfrm>
            <a:off x="9509760" y="6473952"/>
            <a:ext cx="2057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A93A3"/>
                </a:solidFill>
              </a:rPr>
              <a:t>Codara architecture roadmap | 11</a:t>
            </a:r>
            <a:endParaRPr lang="en-US" sz="6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Phase 4 - Global AI Platform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85216" y="758952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</a:rPr>
              <a:t>Goal: become an enterprise AI architecture platform post-PhD.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85216" y="1143000"/>
            <a:ext cx="914400" cy="0"/>
          </a:xfrm>
          <a:prstGeom prst="line">
            <a:avLst/>
          </a:prstGeom>
          <a:noFill/>
          <a:ln w="2794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517904"/>
            <a:ext cx="245059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8ECF1"/>
            </a:solidFill>
            <a:prstDash val="solid"/>
          </a:ln>
          <a:effectLst>
            <a:outerShdw sx="100000" sy="100000" kx="0" ky="0" algn="bl" rotWithShape="0" blurRad="12700" dist="50800" dir="2700000">
              <a:srgbClr val="D7DEE8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58368" y="1517904"/>
            <a:ext cx="54864" cy="16916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1682496"/>
            <a:ext cx="2066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</a:rPr>
              <a:t>Architecture autonomy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77824" y="2020824"/>
            <a:ext cx="2066544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5B6472"/>
                </a:solidFill>
              </a:rPr>
              <a:t>Suggest redesigns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5B6472"/>
                </a:solidFill>
              </a:rPr>
              <a:t>Large-scale refactoring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5B6472"/>
                </a:solidFill>
              </a:rPr>
              <a:t>Architecture transformation</a:t>
            </a:r>
            <a:endParaRPr lang="en-US" sz="860" dirty="0"/>
          </a:p>
        </p:txBody>
      </p:sp>
      <p:sp>
        <p:nvSpPr>
          <p:cNvPr id="9" name="Shape 7"/>
          <p:cNvSpPr/>
          <p:nvPr/>
        </p:nvSpPr>
        <p:spPr>
          <a:xfrm>
            <a:off x="3566160" y="1517904"/>
            <a:ext cx="245059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8ECF1"/>
            </a:solidFill>
            <a:prstDash val="solid"/>
          </a:ln>
          <a:effectLst>
            <a:outerShdw sx="100000" sy="100000" kx="0" ky="0" algn="bl" rotWithShape="0" blurRad="12700" dist="50800" dir="2700000">
              <a:srgbClr val="D7DEE8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66160" y="1517904"/>
            <a:ext cx="54864" cy="16916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85616" y="1682496"/>
            <a:ext cx="2066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</a:rPr>
              <a:t>Cross-project intelligence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785616" y="2020824"/>
            <a:ext cx="2066544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5B6472"/>
                </a:solidFill>
              </a:rPr>
              <a:t>Multiple repositories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5B6472"/>
                </a:solidFill>
              </a:rPr>
              <a:t>Safe knowledge transfer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5B6472"/>
                </a:solidFill>
              </a:rPr>
              <a:t>Organization-level context</a:t>
            </a:r>
            <a:endParaRPr lang="en-US" sz="860" dirty="0"/>
          </a:p>
        </p:txBody>
      </p:sp>
      <p:sp>
        <p:nvSpPr>
          <p:cNvPr id="13" name="Shape 11"/>
          <p:cNvSpPr/>
          <p:nvPr/>
        </p:nvSpPr>
        <p:spPr>
          <a:xfrm>
            <a:off x="6473952" y="1517904"/>
            <a:ext cx="245059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8ECF1"/>
            </a:solidFill>
            <a:prstDash val="solid"/>
          </a:ln>
          <a:effectLst>
            <a:outerShdw sx="100000" sy="100000" kx="0" ky="0" algn="bl" rotWithShape="0" blurRad="12700" dist="50800" dir="2700000">
              <a:srgbClr val="D7DEE8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73952" y="1517904"/>
            <a:ext cx="54864" cy="16916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93408" y="1682496"/>
            <a:ext cx="2066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</a:rPr>
              <a:t>Enterprise SaaS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693408" y="2020824"/>
            <a:ext cx="2066544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5B6472"/>
                </a:solidFill>
              </a:rPr>
              <a:t>Hundreds of companies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5B6472"/>
                </a:solidFill>
              </a:rPr>
              <a:t>Subscription assistant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5B6472"/>
                </a:solidFill>
              </a:rPr>
              <a:t>Team dashboards</a:t>
            </a:r>
            <a:endParaRPr lang="en-US" sz="860" dirty="0"/>
          </a:p>
        </p:txBody>
      </p:sp>
      <p:sp>
        <p:nvSpPr>
          <p:cNvPr id="17" name="Shape 15"/>
          <p:cNvSpPr/>
          <p:nvPr/>
        </p:nvSpPr>
        <p:spPr>
          <a:xfrm>
            <a:off x="9381744" y="1517904"/>
            <a:ext cx="245059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8ECF1"/>
            </a:solidFill>
            <a:prstDash val="solid"/>
          </a:ln>
          <a:effectLst>
            <a:outerShdw sx="100000" sy="100000" kx="0" ky="0" algn="bl" rotWithShape="0" blurRad="12700" dist="50800" dir="2700000">
              <a:srgbClr val="D7DEE8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381744" y="1517904"/>
            <a:ext cx="54864" cy="16916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0" y="1682496"/>
            <a:ext cx="2066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</a:rPr>
              <a:t>Continuous learning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9601200" y="2020824"/>
            <a:ext cx="2066544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5B6472"/>
                </a:solidFill>
              </a:rPr>
              <a:t>Usage patterns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5B6472"/>
                </a:solidFill>
              </a:rPr>
              <a:t>Dynamic model updates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5B6472"/>
                </a:solidFill>
              </a:rPr>
              <a:t>Improving intelligence</a:t>
            </a:r>
            <a:endParaRPr lang="en-US" sz="860" dirty="0"/>
          </a:p>
        </p:txBody>
      </p:sp>
      <p:sp>
        <p:nvSpPr>
          <p:cNvPr id="21" name="Text 19"/>
          <p:cNvSpPr/>
          <p:nvPr/>
        </p:nvSpPr>
        <p:spPr>
          <a:xfrm>
            <a:off x="9509760" y="6473952"/>
            <a:ext cx="2057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A93A3"/>
                </a:solidFill>
              </a:rPr>
              <a:t>Codara architecture roadmap | 12</a:t>
            </a:r>
            <a:endParaRPr lang="en-US" sz="6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Your Backend / AI Observability Scope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85216" y="758952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</a:rPr>
              <a:t>Make the FastAPI backend, analysis pipeline, and AI core measurable and reliable.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85216" y="1143000"/>
            <a:ext cx="914400" cy="0"/>
          </a:xfrm>
          <a:prstGeom prst="line">
            <a:avLst/>
          </a:prstGeom>
          <a:noFill/>
          <a:ln w="2794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417320"/>
            <a:ext cx="31546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8ECF1"/>
            </a:solidFill>
            <a:prstDash val="solid"/>
          </a:ln>
          <a:effectLst>
            <a:outerShdw sx="100000" sy="100000" kx="0" ky="0" algn="bl" rotWithShape="0" blurRad="12700" dist="50800" dir="2700000">
              <a:srgbClr val="D7DEE8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417320"/>
            <a:ext cx="54864" cy="1417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05256" y="1581912"/>
            <a:ext cx="2770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</a:rPr>
              <a:t>Metrics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05256" y="1920240"/>
            <a:ext cx="277063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5B6472"/>
                </a:solidFill>
              </a:rPr>
              <a:t>API response time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5B6472"/>
                </a:solidFill>
              </a:rPr>
              <a:t>analysis latency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5B6472"/>
                </a:solidFill>
              </a:rPr>
              <a:t>files processed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5B6472"/>
                </a:solidFill>
              </a:rPr>
              <a:t>embeddings generated</a:t>
            </a:r>
            <a:endParaRPr lang="en-US" sz="860" dirty="0"/>
          </a:p>
        </p:txBody>
      </p:sp>
      <p:sp>
        <p:nvSpPr>
          <p:cNvPr id="9" name="Shape 7"/>
          <p:cNvSpPr/>
          <p:nvPr/>
        </p:nvSpPr>
        <p:spPr>
          <a:xfrm>
            <a:off x="4416552" y="1417320"/>
            <a:ext cx="31546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8ECF1"/>
            </a:solidFill>
            <a:prstDash val="solid"/>
          </a:ln>
          <a:effectLst>
            <a:outerShdw sx="100000" sy="100000" kx="0" ky="0" algn="bl" rotWithShape="0" blurRad="12700" dist="50800" dir="2700000">
              <a:srgbClr val="D7DEE8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16552" y="1417320"/>
            <a:ext cx="54864" cy="1417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36008" y="1581912"/>
            <a:ext cx="2770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</a:rPr>
              <a:t>Structured logs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636008" y="1920240"/>
            <a:ext cx="277063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5B6472"/>
                </a:solidFill>
              </a:rPr>
              <a:t>request received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5B6472"/>
                </a:solidFill>
              </a:rPr>
              <a:t>analyzer start/end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5B6472"/>
                </a:solidFill>
              </a:rPr>
              <a:t>AI reasoning start/end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5B6472"/>
                </a:solidFill>
              </a:rPr>
              <a:t>diagram generation</a:t>
            </a:r>
            <a:endParaRPr lang="en-US" sz="860" dirty="0"/>
          </a:p>
        </p:txBody>
      </p:sp>
      <p:sp>
        <p:nvSpPr>
          <p:cNvPr id="13" name="Shape 11"/>
          <p:cNvSpPr/>
          <p:nvPr/>
        </p:nvSpPr>
        <p:spPr>
          <a:xfrm>
            <a:off x="8147304" y="1417320"/>
            <a:ext cx="31546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8ECF1"/>
            </a:solidFill>
            <a:prstDash val="solid"/>
          </a:ln>
          <a:effectLst>
            <a:outerShdw sx="100000" sy="100000" kx="0" ky="0" algn="bl" rotWithShape="0" blurRad="12700" dist="50800" dir="2700000">
              <a:srgbClr val="D7DEE8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147304" y="1417320"/>
            <a:ext cx="54864" cy="1417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66760" y="1581912"/>
            <a:ext cx="2770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</a:rPr>
              <a:t>Health checks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366760" y="1920240"/>
            <a:ext cx="277063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5B6472"/>
                </a:solidFill>
              </a:rPr>
              <a:t>/health endpoint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5B6472"/>
                </a:solidFill>
              </a:rPr>
              <a:t>database status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5B6472"/>
                </a:solidFill>
              </a:rPr>
              <a:t>vector DB status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5B6472"/>
                </a:solidFill>
              </a:rPr>
              <a:t>AI module status</a:t>
            </a:r>
            <a:endParaRPr lang="en-US" sz="860" dirty="0"/>
          </a:p>
        </p:txBody>
      </p:sp>
      <p:sp>
        <p:nvSpPr>
          <p:cNvPr id="17" name="Shape 15"/>
          <p:cNvSpPr/>
          <p:nvPr/>
        </p:nvSpPr>
        <p:spPr>
          <a:xfrm>
            <a:off x="685800" y="3383280"/>
            <a:ext cx="31546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8ECF1"/>
            </a:solidFill>
            <a:prstDash val="solid"/>
          </a:ln>
          <a:effectLst>
            <a:outerShdw sx="100000" sy="100000" kx="0" ky="0" algn="bl" rotWithShape="0" blurRad="12700" dist="50800" dir="2700000">
              <a:srgbClr val="D7DEE8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85800" y="3383280"/>
            <a:ext cx="54864" cy="14173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5256" y="3547872"/>
            <a:ext cx="2770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</a:rPr>
              <a:t>Error tracking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905256" y="3886200"/>
            <a:ext cx="277063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5B6472"/>
                </a:solidFill>
              </a:rPr>
              <a:t>Sentry exceptions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5B6472"/>
                </a:solidFill>
              </a:rPr>
              <a:t>critical FastAPI failures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5B6472"/>
                </a:solidFill>
              </a:rPr>
              <a:t>AI processing errors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416552" y="3383280"/>
            <a:ext cx="31546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8ECF1"/>
            </a:solidFill>
            <a:prstDash val="solid"/>
          </a:ln>
          <a:effectLst>
            <a:outerShdw sx="100000" sy="100000" kx="0" ky="0" algn="bl" rotWithShape="0" blurRad="12700" dist="50800" dir="2700000">
              <a:srgbClr val="D7DEE8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416552" y="3383280"/>
            <a:ext cx="54864" cy="1417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36008" y="3547872"/>
            <a:ext cx="2770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</a:rPr>
              <a:t>Async jobs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636008" y="3886200"/>
            <a:ext cx="277063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5B6472"/>
                </a:solidFill>
              </a:rPr>
              <a:t>pending jobs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5B6472"/>
                </a:solidFill>
              </a:rPr>
              <a:t>processing duration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5B6472"/>
                </a:solidFill>
              </a:rPr>
              <a:t>worker failures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5B6472"/>
                </a:solidFill>
              </a:rPr>
              <a:t>queue depth</a:t>
            </a:r>
            <a:endParaRPr lang="en-US" sz="860" dirty="0"/>
          </a:p>
        </p:txBody>
      </p:sp>
      <p:sp>
        <p:nvSpPr>
          <p:cNvPr id="25" name="Shape 23"/>
          <p:cNvSpPr/>
          <p:nvPr/>
        </p:nvSpPr>
        <p:spPr>
          <a:xfrm>
            <a:off x="8147304" y="3383280"/>
            <a:ext cx="31546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8ECF1"/>
            </a:solidFill>
            <a:prstDash val="solid"/>
          </a:ln>
          <a:effectLst>
            <a:outerShdw sx="100000" sy="100000" kx="0" ky="0" algn="bl" rotWithShape="0" blurRad="12700" dist="50800" dir="2700000">
              <a:srgbClr val="D7DEE8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147304" y="3383280"/>
            <a:ext cx="54864" cy="1417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66760" y="3547872"/>
            <a:ext cx="2770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</a:rPr>
              <a:t>Alerts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366760" y="3886200"/>
            <a:ext cx="277063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5B6472"/>
                </a:solidFill>
              </a:rPr>
              <a:t>repo upload failure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5B6472"/>
                </a:solidFill>
              </a:rPr>
              <a:t>analyzer crash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5B6472"/>
                </a:solidFill>
              </a:rPr>
              <a:t>latency threshold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5B6472"/>
                </a:solidFill>
              </a:rPr>
              <a:t>critical service outage</a:t>
            </a:r>
            <a:endParaRPr lang="en-US" sz="860" dirty="0"/>
          </a:p>
        </p:txBody>
      </p:sp>
      <p:sp>
        <p:nvSpPr>
          <p:cNvPr id="29" name="Text 27"/>
          <p:cNvSpPr/>
          <p:nvPr/>
        </p:nvSpPr>
        <p:spPr>
          <a:xfrm>
            <a:off x="9509760" y="6473952"/>
            <a:ext cx="2057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A93A3"/>
                </a:solidFill>
              </a:rPr>
              <a:t>Codara architecture roadmap | 13</a:t>
            </a:r>
            <a:endParaRPr lang="en-US" sz="6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Pending For Go / Infrastructure Team Member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85216" y="758952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</a:rPr>
              <a:t>Keep supporting services healthy, observable, and compatible with Grafana dashboards.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85216" y="1143000"/>
            <a:ext cx="914400" cy="0"/>
          </a:xfrm>
          <a:prstGeom prst="line">
            <a:avLst/>
          </a:prstGeom>
          <a:noFill/>
          <a:ln w="2794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417320"/>
            <a:ext cx="34290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8ECF1"/>
            </a:solidFill>
            <a:prstDash val="solid"/>
          </a:ln>
          <a:effectLst>
            <a:outerShdw sx="100000" sy="100000" kx="0" ky="0" algn="bl" rotWithShape="0" blurRad="12700" dist="50800" dir="2700000">
              <a:srgbClr val="D7DEE8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58368" y="1417320"/>
            <a:ext cx="54864" cy="15087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1581912"/>
            <a:ext cx="3044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</a:rPr>
              <a:t>Service health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77824" y="1920240"/>
            <a:ext cx="3044952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5B6472"/>
                </a:solidFill>
              </a:rPr>
              <a:t>Build /health endpoints for logging service, metrics collector, Docker worker orchestration, and supporting services. Report health to Prometheus.</a:t>
            </a:r>
            <a:endParaRPr lang="en-US" sz="860" dirty="0"/>
          </a:p>
        </p:txBody>
      </p:sp>
      <p:sp>
        <p:nvSpPr>
          <p:cNvPr id="9" name="Shape 7"/>
          <p:cNvSpPr/>
          <p:nvPr/>
        </p:nvSpPr>
        <p:spPr>
          <a:xfrm>
            <a:off x="4389120" y="1417320"/>
            <a:ext cx="34290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8ECF1"/>
            </a:solidFill>
            <a:prstDash val="solid"/>
          </a:ln>
          <a:effectLst>
            <a:outerShdw sx="100000" sy="100000" kx="0" ky="0" algn="bl" rotWithShape="0" blurRad="12700" dist="50800" dir="2700000">
              <a:srgbClr val="D7DEE8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89120" y="1417320"/>
            <a:ext cx="54864" cy="15087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08576" y="1581912"/>
            <a:ext cx="3044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</a:rPr>
              <a:t>System metrics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608576" y="1920240"/>
            <a:ext cx="3044952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5B6472"/>
                </a:solidFill>
              </a:rPr>
              <a:t>Expose CPU, memory, disk usage, jobs in queue, worker count, and vector DB ingestion rate using the Prometheus Go client.</a:t>
            </a:r>
            <a:endParaRPr lang="en-US" sz="860" dirty="0"/>
          </a:p>
        </p:txBody>
      </p:sp>
      <p:sp>
        <p:nvSpPr>
          <p:cNvPr id="13" name="Shape 11"/>
          <p:cNvSpPr/>
          <p:nvPr/>
        </p:nvSpPr>
        <p:spPr>
          <a:xfrm>
            <a:off x="8119872" y="1417320"/>
            <a:ext cx="34290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8ECF1"/>
            </a:solidFill>
            <a:prstDash val="solid"/>
          </a:ln>
          <a:effectLst>
            <a:outerShdw sx="100000" sy="100000" kx="0" ky="0" algn="bl" rotWithShape="0" blurRad="12700" dist="50800" dir="2700000">
              <a:srgbClr val="D7DEE8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119872" y="1417320"/>
            <a:ext cx="54864" cy="15087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39328" y="1581912"/>
            <a:ext cx="3044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</a:rPr>
              <a:t>Logging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339328" y="1920240"/>
            <a:ext cx="3044952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5B6472"/>
                </a:solidFill>
              </a:rPr>
              <a:t>Capture logs from supporting services and Docker workers, including stdout/stderr. Optionally forward container logs to Loki or ELK.</a:t>
            </a:r>
            <a:endParaRPr lang="en-US" sz="860" dirty="0"/>
          </a:p>
        </p:txBody>
      </p:sp>
      <p:sp>
        <p:nvSpPr>
          <p:cNvPr id="17" name="Shape 15"/>
          <p:cNvSpPr/>
          <p:nvPr/>
        </p:nvSpPr>
        <p:spPr>
          <a:xfrm>
            <a:off x="658368" y="3657600"/>
            <a:ext cx="34290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8ECF1"/>
            </a:solidFill>
            <a:prstDash val="solid"/>
          </a:ln>
          <a:effectLst>
            <a:outerShdw sx="100000" sy="100000" kx="0" ky="0" algn="bl" rotWithShape="0" blurRad="12700" dist="50800" dir="2700000">
              <a:srgbClr val="D7DEE8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58368" y="3657600"/>
            <a:ext cx="54864" cy="15087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7824" y="3822192"/>
            <a:ext cx="3044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</a:rPr>
              <a:t>Alerts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77824" y="4160520"/>
            <a:ext cx="3044952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5B6472"/>
                </a:solidFill>
              </a:rPr>
              <a:t>Detect unhealthy or unresponsive services. Example: vector DB ingestion fails, then Prometheus Alertmanager triggers Slack/email.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389120" y="3657600"/>
            <a:ext cx="34290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8ECF1"/>
            </a:solidFill>
            <a:prstDash val="solid"/>
          </a:ln>
          <a:effectLst>
            <a:outerShdw sx="100000" sy="100000" kx="0" ky="0" algn="bl" rotWithShape="0" blurRad="12700" dist="50800" dir="2700000">
              <a:srgbClr val="D7DEE8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389120" y="3657600"/>
            <a:ext cx="54864" cy="1508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08576" y="3822192"/>
            <a:ext cx="3044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</a:rPr>
              <a:t>Observability integration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608576" y="4160520"/>
            <a:ext cx="3044952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5B6472"/>
                </a:solidFill>
              </a:rPr>
              <a:t>Ensure all logs, metrics, and health endpoints are compatible with Prometheus and Grafana dashboards.</a:t>
            </a:r>
            <a:endParaRPr lang="en-US" sz="860" dirty="0"/>
          </a:p>
        </p:txBody>
      </p:sp>
      <p:sp>
        <p:nvSpPr>
          <p:cNvPr id="25" name="Shape 23"/>
          <p:cNvSpPr/>
          <p:nvPr/>
        </p:nvSpPr>
        <p:spPr>
          <a:xfrm>
            <a:off x="8119872" y="3657600"/>
            <a:ext cx="34290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8ECF1"/>
            </a:solidFill>
            <a:prstDash val="solid"/>
          </a:ln>
          <a:effectLst>
            <a:outerShdw sx="100000" sy="100000" kx="0" ky="0" algn="bl" rotWithShape="0" blurRad="12700" dist="50800" dir="2700000">
              <a:srgbClr val="D7DEE8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119872" y="3657600"/>
            <a:ext cx="54864" cy="15087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39328" y="3822192"/>
            <a:ext cx="3044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</a:rPr>
              <a:t>Docker workers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339328" y="4160520"/>
            <a:ext cx="3044952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5B6472"/>
                </a:solidFill>
              </a:rPr>
              <a:t>Monitor worker orchestration, process status, queue load, and runtime output so analysis failures are visible quickly.</a:t>
            </a:r>
            <a:endParaRPr lang="en-US" sz="860" dirty="0"/>
          </a:p>
        </p:txBody>
      </p:sp>
      <p:sp>
        <p:nvSpPr>
          <p:cNvPr id="29" name="Text 27"/>
          <p:cNvSpPr/>
          <p:nvPr/>
        </p:nvSpPr>
        <p:spPr>
          <a:xfrm>
            <a:off x="9509760" y="6473952"/>
            <a:ext cx="2057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A93A3"/>
                </a:solidFill>
              </a:rPr>
              <a:t>Codara architecture roadmap | 14</a:t>
            </a:r>
            <a:endParaRPr lang="en-US" sz="6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Risks &amp; Open Questions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85216" y="758952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</a:rPr>
              <a:t>Track these early so the MVP does not grow blind spots.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85216" y="1143000"/>
            <a:ext cx="914400" cy="0"/>
          </a:xfrm>
          <a:prstGeom prst="line">
            <a:avLst/>
          </a:prstGeom>
          <a:noFill/>
          <a:ln w="2794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417320"/>
            <a:ext cx="329184" cy="201168"/>
          </a:xfrm>
          <a:prstGeom prst="ellipse">
            <a:avLst/>
          </a:prstGeom>
          <a:solidFill>
            <a:srgbClr val="D97706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325880" y="1444752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Large repository performance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172200" y="1417320"/>
            <a:ext cx="329184" cy="201168"/>
          </a:xfrm>
          <a:prstGeom prst="ellipse">
            <a:avLst/>
          </a:prstGeom>
          <a:solidFill>
            <a:srgbClr val="D97706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629400" y="1444752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Embedding storage cost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2240280"/>
            <a:ext cx="329184" cy="201168"/>
          </a:xfrm>
          <a:prstGeom prst="ellipse">
            <a:avLst/>
          </a:prstGeom>
          <a:solidFill>
            <a:srgbClr val="D97706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325880" y="2267712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Diagram complexity and readability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172200" y="2240280"/>
            <a:ext cx="329184" cy="201168"/>
          </a:xfrm>
          <a:prstGeom prst="ellipse">
            <a:avLst/>
          </a:prstGeom>
          <a:solidFill>
            <a:srgbClr val="D97706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629400" y="2267712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Async worker scaling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8680" y="3063240"/>
            <a:ext cx="329184" cy="201168"/>
          </a:xfrm>
          <a:prstGeom prst="ellipse">
            <a:avLst/>
          </a:prstGeom>
          <a:solidFill>
            <a:srgbClr val="DC2626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5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325880" y="3090672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API versioning and contract drift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72200" y="3063240"/>
            <a:ext cx="329184" cy="201168"/>
          </a:xfrm>
          <a:prstGeom prst="ellipse">
            <a:avLst/>
          </a:prstGeom>
          <a:solidFill>
            <a:srgbClr val="DC2626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6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629400" y="3090672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Vector DB choice and ingestion reliability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68680" y="3886200"/>
            <a:ext cx="329184" cy="201168"/>
          </a:xfrm>
          <a:prstGeom prst="ellipse">
            <a:avLst/>
          </a:prstGeom>
          <a:solidFill>
            <a:srgbClr val="DC2626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7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325880" y="3913632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Log volume and retention cost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72200" y="3886200"/>
            <a:ext cx="329184" cy="201168"/>
          </a:xfrm>
          <a:prstGeom prst="ellipse">
            <a:avLst/>
          </a:prstGeom>
          <a:solidFill>
            <a:srgbClr val="DC2626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8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629400" y="3913632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Alert noise versus useful incident signals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14400" y="5623560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563EB"/>
                </a:solidFill>
              </a:rPr>
              <a:t>Next planning move: agree the MVP observability contract first, then wire dashboards and alerts around real analysis jobs.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9509760" y="6473952"/>
            <a:ext cx="2057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A93A3"/>
                </a:solidFill>
              </a:rPr>
              <a:t>Codara architecture roadmap | 15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Codara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Codara Roadmap</dc:title>
  <dc:subject>Codara project roadmap and observability ownership</dc:subject>
  <dc:creator>Codara</dc:creator>
  <cp:lastModifiedBy>Codara</cp:lastModifiedBy>
  <cp:revision>1</cp:revision>
  <dcterms:created xsi:type="dcterms:W3CDTF">2026-04-28T14:42:19Z</dcterms:created>
  <dcterms:modified xsi:type="dcterms:W3CDTF">2026-04-28T14:42:19Z</dcterms:modified>
</cp:coreProperties>
</file>